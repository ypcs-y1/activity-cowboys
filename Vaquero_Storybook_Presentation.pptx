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41" autoAdjust="0"/>
  </p:normalViewPr>
  <p:slideViewPr>
    <p:cSldViewPr snapToGrid="0" snapToObjects="1">
      <p:cViewPr varScale="1">
        <p:scale>
          <a:sx n="78" d="100"/>
          <a:sy n="78" d="100"/>
        </p:scale>
        <p:origin x="1598"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A460"/>
        </a:solidFill>
        <a:effectLst/>
      </p:bgPr>
    </p:bg>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457200" y="365760"/>
            <a:ext cx="8229600" cy="914400"/>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800" b="1">
                <a:solidFill>
                  <a:srgbClr val="FFFFFF"/>
                </a:solidFill>
              </a:defRPr>
            </a:pPr>
            <a:r>
              <a:rPr kumimoji="0" lang="en-US" sz="2800" b="1" i="0" u="none" strike="noStrike" kern="1200" cap="none" spc="0" normalizeH="0" baseline="0" noProof="0" dirty="0">
                <a:ln>
                  <a:noFill/>
                </a:ln>
                <a:solidFill>
                  <a:srgbClr val="FFFFFF"/>
                </a:solidFill>
                <a:effectLst/>
                <a:uLnTx/>
                <a:uFillTx/>
                <a:latin typeface="+mn-lt"/>
                <a:ea typeface="+mn-ea"/>
                <a:cs typeface="+mn-cs"/>
              </a:rPr>
              <a:t>The Story of the Vaqueros</a:t>
            </a:r>
          </a:p>
        </p:txBody>
      </p:sp>
      <p:sp>
        <p:nvSpPr>
          <p:cNvPr id="3" name="Rounded Rectangle 2"/>
          <p:cNvSpPr/>
          <p:nvPr/>
        </p:nvSpPr>
        <p:spPr>
          <a:xfrm>
            <a:off x="548640" y="1280160"/>
            <a:ext cx="8046720" cy="3657600"/>
          </a:xfrm>
          <a:prstGeom prst="roundRect">
            <a:avLst/>
          </a:prstGeom>
          <a:solidFill>
            <a:srgbClr val="FFF8DC"/>
          </a:solidFill>
          <a:ln>
            <a:solidFill>
              <a:srgbClr val="8B451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a:solidFill>
                  <a:srgbClr val="502814"/>
                </a:solidFill>
              </a:defRPr>
            </a:pPr>
            <a:r>
              <a:t>The Cowboys Who Changed the West</a:t>
            </a:r>
          </a:p>
        </p:txBody>
      </p:sp>
      <p:sp>
        <p:nvSpPr>
          <p:cNvPr id="4" name="TextBox 3"/>
          <p:cNvSpPr txBox="1"/>
          <p:nvPr/>
        </p:nvSpPr>
        <p:spPr>
          <a:xfrm>
            <a:off x="274320" y="6217920"/>
            <a:ext cx="2743200" cy="274320"/>
          </a:xfrm>
          <a:prstGeom prst="rect">
            <a:avLst/>
          </a:prstGeom>
          <a:noFill/>
        </p:spPr>
        <p:txBody>
          <a:bodyPr wrap="none">
            <a:spAutoFit/>
          </a:bodyPr>
          <a:lstStyle/>
          <a:p>
            <a:pPr>
              <a:defRPr sz="1000">
                <a:solidFill>
                  <a:srgbClr val="FFFFFF"/>
                </a:solidFill>
              </a:defRPr>
            </a:pPr>
            <a:r>
              <a:t>Vaquero Storybook Project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D853F"/>
        </a:solidFill>
        <a:effectLst/>
      </p:bgPr>
    </p:bg>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457200" y="365760"/>
            <a:ext cx="8229600" cy="914400"/>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800" b="1">
                <a:solidFill>
                  <a:srgbClr val="FFFFFF"/>
                </a:solidFill>
              </a:defRPr>
            </a:pPr>
            <a:r>
              <a:rPr kumimoji="0" lang="en-US" sz="2800" b="1" i="0" u="none" strike="noStrike" kern="1200" cap="none" spc="0" normalizeH="0" baseline="0" noProof="0" dirty="0">
                <a:ln>
                  <a:noFill/>
                </a:ln>
                <a:solidFill>
                  <a:srgbClr val="FFFFFF"/>
                </a:solidFill>
                <a:effectLst/>
                <a:uLnTx/>
                <a:uFillTx/>
                <a:latin typeface="+mn-lt"/>
                <a:ea typeface="+mn-ea"/>
                <a:cs typeface="+mn-cs"/>
              </a:rPr>
              <a:t>Page 1 – A New World</a:t>
            </a:r>
          </a:p>
        </p:txBody>
      </p:sp>
      <p:sp>
        <p:nvSpPr>
          <p:cNvPr id="3" name="Rounded Rectangle 2"/>
          <p:cNvSpPr/>
          <p:nvPr/>
        </p:nvSpPr>
        <p:spPr>
          <a:xfrm>
            <a:off x="548640" y="1280160"/>
            <a:ext cx="8046720" cy="3657600"/>
          </a:xfrm>
          <a:prstGeom prst="roundRect">
            <a:avLst/>
          </a:prstGeom>
          <a:solidFill>
            <a:srgbClr val="FFF8DC"/>
          </a:solidFill>
          <a:ln>
            <a:solidFill>
              <a:srgbClr val="8B451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a:solidFill>
                  <a:srgbClr val="502814"/>
                </a:solidFill>
              </a:defRPr>
            </a:pPr>
            <a:r>
              <a:rPr dirty="0"/>
              <a:t>Before Columbus arrived in 1492, there were no horses or cows in the Americas. Native people traveled on foot and hunted wild animals. After Columbus’s voyages, Spanish explorers brought horses, cattle, sheep, and pigs. Horses changed life forever because people could travel farther and faster. Cattle provided food, leather, and jobs. The year 1492 became important because it helped create cowbo</a:t>
            </a:r>
            <a:r>
              <a:rPr lang="en-US" dirty="0"/>
              <a:t>ys</a:t>
            </a:r>
            <a:r>
              <a:rPr dirty="0"/>
              <a:t>.</a:t>
            </a:r>
          </a:p>
        </p:txBody>
      </p:sp>
      <p:sp>
        <p:nvSpPr>
          <p:cNvPr id="4" name="TextBox 3"/>
          <p:cNvSpPr txBox="1"/>
          <p:nvPr/>
        </p:nvSpPr>
        <p:spPr>
          <a:xfrm>
            <a:off x="274320" y="6217920"/>
            <a:ext cx="2743200" cy="274320"/>
          </a:xfrm>
          <a:prstGeom prst="rect">
            <a:avLst/>
          </a:prstGeom>
          <a:noFill/>
        </p:spPr>
        <p:txBody>
          <a:bodyPr wrap="none">
            <a:spAutoFit/>
          </a:bodyPr>
          <a:lstStyle/>
          <a:p>
            <a:pPr>
              <a:defRPr sz="1000">
                <a:solidFill>
                  <a:srgbClr val="FFFFFF"/>
                </a:solidFill>
              </a:defRPr>
            </a:pPr>
            <a:r>
              <a:t>Vaquero Storybook Project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2B48C"/>
        </a:solidFill>
        <a:effectLst/>
      </p:bgPr>
    </p:bg>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457200" y="365760"/>
            <a:ext cx="8229600" cy="914400"/>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800" b="1">
                <a:solidFill>
                  <a:srgbClr val="FFFFFF"/>
                </a:solidFill>
              </a:defRPr>
            </a:pPr>
            <a:r>
              <a:rPr kumimoji="0" lang="en-US" sz="2800" b="1" i="0" u="none" strike="noStrike" kern="1200" cap="none" spc="0" normalizeH="0" baseline="0" noProof="0" dirty="0">
                <a:ln>
                  <a:noFill/>
                </a:ln>
                <a:solidFill>
                  <a:srgbClr val="FFFFFF"/>
                </a:solidFill>
                <a:effectLst/>
                <a:uLnTx/>
                <a:uFillTx/>
                <a:latin typeface="+mn-lt"/>
                <a:ea typeface="+mn-ea"/>
                <a:cs typeface="+mn-cs"/>
              </a:rPr>
              <a:t>Page 2 – Cortés and New Spain</a:t>
            </a:r>
          </a:p>
        </p:txBody>
      </p:sp>
      <p:sp>
        <p:nvSpPr>
          <p:cNvPr id="3" name="Rounded Rectangle 2"/>
          <p:cNvSpPr/>
          <p:nvPr/>
        </p:nvSpPr>
        <p:spPr>
          <a:xfrm>
            <a:off x="548640" y="1280160"/>
            <a:ext cx="8046720" cy="3657600"/>
          </a:xfrm>
          <a:prstGeom prst="roundRect">
            <a:avLst/>
          </a:prstGeom>
          <a:solidFill>
            <a:srgbClr val="FFF8DC"/>
          </a:solidFill>
          <a:ln>
            <a:solidFill>
              <a:srgbClr val="8B451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a:solidFill>
                  <a:srgbClr val="502814"/>
                </a:solidFill>
              </a:defRPr>
            </a:pPr>
            <a:r>
              <a:t>In 1519, Hernán Cortés sailed to Mexico with ships, soldiers, and horses. He claimed the land for the Spanish king and named it “New Spain.” The explorers searched for gold and power, but the journey was dangerous because of storms, hunger, and battles. Spanish culture, religion, and language slowly spread through the land.</a:t>
            </a:r>
          </a:p>
        </p:txBody>
      </p:sp>
      <p:sp>
        <p:nvSpPr>
          <p:cNvPr id="4" name="TextBox 3"/>
          <p:cNvSpPr txBox="1"/>
          <p:nvPr/>
        </p:nvSpPr>
        <p:spPr>
          <a:xfrm>
            <a:off x="274320" y="6217920"/>
            <a:ext cx="2743200" cy="274320"/>
          </a:xfrm>
          <a:prstGeom prst="rect">
            <a:avLst/>
          </a:prstGeom>
          <a:noFill/>
        </p:spPr>
        <p:txBody>
          <a:bodyPr wrap="none">
            <a:spAutoFit/>
          </a:bodyPr>
          <a:lstStyle/>
          <a:p>
            <a:pPr>
              <a:defRPr sz="1000">
                <a:solidFill>
                  <a:srgbClr val="FFFFFF"/>
                </a:solidFill>
              </a:defRPr>
            </a:pPr>
            <a:r>
              <a:t>Vaquero Storybook Project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BC8F8F"/>
        </a:solidFill>
        <a:effectLst/>
      </p:bgPr>
    </p:bg>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457200" y="365760"/>
            <a:ext cx="8229600" cy="914400"/>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800" b="1">
                <a:solidFill>
                  <a:srgbClr val="FFFFFF"/>
                </a:solidFill>
              </a:defRPr>
            </a:pPr>
            <a:r>
              <a:rPr kumimoji="0" lang="en-US" sz="2800" b="1" i="0" u="none" strike="noStrike" kern="1200" cap="none" spc="0" normalizeH="0" baseline="0" noProof="0" dirty="0">
                <a:ln>
                  <a:noFill/>
                </a:ln>
                <a:solidFill>
                  <a:srgbClr val="FFFFFF"/>
                </a:solidFill>
                <a:effectLst/>
                <a:uLnTx/>
                <a:uFillTx/>
                <a:latin typeface="+mn-lt"/>
                <a:ea typeface="+mn-ea"/>
                <a:cs typeface="+mn-cs"/>
              </a:rPr>
              <a:t>Page 3 – Ranches and Missions</a:t>
            </a:r>
          </a:p>
        </p:txBody>
      </p:sp>
      <p:sp>
        <p:nvSpPr>
          <p:cNvPr id="3" name="Rounded Rectangle 2"/>
          <p:cNvSpPr/>
          <p:nvPr/>
        </p:nvSpPr>
        <p:spPr>
          <a:xfrm>
            <a:off x="548640" y="1280160"/>
            <a:ext cx="8046720" cy="3657600"/>
          </a:xfrm>
          <a:prstGeom prst="roundRect">
            <a:avLst/>
          </a:prstGeom>
          <a:solidFill>
            <a:srgbClr val="FFF8DC"/>
          </a:solidFill>
          <a:ln>
            <a:solidFill>
              <a:srgbClr val="8B451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a:solidFill>
                  <a:srgbClr val="502814"/>
                </a:solidFill>
              </a:defRPr>
            </a:pPr>
            <a:r>
              <a:t>The Spanish built large ranches called haciendas to raise cattle and grow crops. Catholic missionaries built missions to teach Christianity and farming. Explorer Francisco Vázquez de Coronado searched for the Seven Cities of Gold but never found them. His cattle spread across the plains and became Texas longhorns. Rivers like the Rio Grande helped settlements survive.</a:t>
            </a:r>
          </a:p>
        </p:txBody>
      </p:sp>
      <p:sp>
        <p:nvSpPr>
          <p:cNvPr id="4" name="TextBox 3"/>
          <p:cNvSpPr txBox="1"/>
          <p:nvPr/>
        </p:nvSpPr>
        <p:spPr>
          <a:xfrm>
            <a:off x="274320" y="6217920"/>
            <a:ext cx="2743200" cy="274320"/>
          </a:xfrm>
          <a:prstGeom prst="rect">
            <a:avLst/>
          </a:prstGeom>
          <a:noFill/>
        </p:spPr>
        <p:txBody>
          <a:bodyPr wrap="none">
            <a:spAutoFit/>
          </a:bodyPr>
          <a:lstStyle/>
          <a:p>
            <a:pPr>
              <a:defRPr sz="1000">
                <a:solidFill>
                  <a:srgbClr val="FFFFFF"/>
                </a:solidFill>
              </a:defRPr>
            </a:pPr>
            <a:r>
              <a:t>Vaquero Storybook Project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EB887"/>
        </a:solidFill>
        <a:effectLst/>
      </p:bgPr>
    </p:bg>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457200" y="365760"/>
            <a:ext cx="8229600" cy="914400"/>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800" b="1">
                <a:solidFill>
                  <a:srgbClr val="FFFFFF"/>
                </a:solidFill>
              </a:defRPr>
            </a:pPr>
            <a:r>
              <a:rPr kumimoji="0" lang="en-US" sz="2800" b="1" i="0" u="none" strike="noStrike" kern="1200" cap="none" spc="0" normalizeH="0" baseline="0" noProof="0" dirty="0">
                <a:ln>
                  <a:noFill/>
                </a:ln>
                <a:solidFill>
                  <a:srgbClr val="FFFFFF"/>
                </a:solidFill>
                <a:effectLst/>
                <a:uLnTx/>
                <a:uFillTx/>
                <a:latin typeface="+mn-lt"/>
                <a:ea typeface="+mn-ea"/>
                <a:cs typeface="+mn-cs"/>
              </a:rPr>
              <a:t>Page 4 – The Vaqueros</a:t>
            </a:r>
          </a:p>
        </p:txBody>
      </p:sp>
      <p:sp>
        <p:nvSpPr>
          <p:cNvPr id="3" name="Rounded Rectangle 2"/>
          <p:cNvSpPr/>
          <p:nvPr/>
        </p:nvSpPr>
        <p:spPr>
          <a:xfrm>
            <a:off x="548640" y="1280160"/>
            <a:ext cx="8046720" cy="3657600"/>
          </a:xfrm>
          <a:prstGeom prst="roundRect">
            <a:avLst/>
          </a:prstGeom>
          <a:solidFill>
            <a:srgbClr val="FFF8DC"/>
          </a:solidFill>
          <a:ln>
            <a:solidFill>
              <a:srgbClr val="8B451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a:solidFill>
                  <a:srgbClr val="502814"/>
                </a:solidFill>
              </a:defRPr>
            </a:pPr>
            <a:r>
              <a:t>Vaqueros were skilled cattle workers and horse riders. Their name came from the Spanish word “vaca,” meaning cow. They used lassos to catch cattle and became famous for their riding skills. Vaqueros helped create the traditions that inspired modern cowboys.</a:t>
            </a:r>
          </a:p>
        </p:txBody>
      </p:sp>
      <p:sp>
        <p:nvSpPr>
          <p:cNvPr id="4" name="TextBox 3"/>
          <p:cNvSpPr txBox="1"/>
          <p:nvPr/>
        </p:nvSpPr>
        <p:spPr>
          <a:xfrm>
            <a:off x="274320" y="6217920"/>
            <a:ext cx="2743200" cy="274320"/>
          </a:xfrm>
          <a:prstGeom prst="rect">
            <a:avLst/>
          </a:prstGeom>
          <a:noFill/>
        </p:spPr>
        <p:txBody>
          <a:bodyPr wrap="none">
            <a:spAutoFit/>
          </a:bodyPr>
          <a:lstStyle/>
          <a:p>
            <a:pPr>
              <a:defRPr sz="1000">
                <a:solidFill>
                  <a:srgbClr val="FFFFFF"/>
                </a:solidFill>
              </a:defRPr>
            </a:pPr>
            <a:r>
              <a:t>Vaquero Storybook Project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A0522D"/>
        </a:solidFill>
        <a:effectLst/>
      </p:bgPr>
    </p:bg>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457200" y="365760"/>
            <a:ext cx="8229600" cy="914400"/>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800" b="1">
                <a:solidFill>
                  <a:srgbClr val="FFFFFF"/>
                </a:solidFill>
              </a:defRPr>
            </a:pPr>
            <a:r>
              <a:rPr kumimoji="0" lang="en-US" sz="2800" b="1" i="0" u="none" strike="noStrike" kern="1200" cap="none" spc="0" normalizeH="0" baseline="0" noProof="0" dirty="0">
                <a:ln>
                  <a:noFill/>
                </a:ln>
                <a:solidFill>
                  <a:srgbClr val="FFFFFF"/>
                </a:solidFill>
                <a:effectLst/>
                <a:uLnTx/>
                <a:uFillTx/>
                <a:latin typeface="+mn-lt"/>
                <a:ea typeface="+mn-ea"/>
                <a:cs typeface="+mn-cs"/>
              </a:rPr>
              <a:t>Page 5 – Life on the Range</a:t>
            </a:r>
          </a:p>
        </p:txBody>
      </p:sp>
      <p:sp>
        <p:nvSpPr>
          <p:cNvPr id="3" name="Rounded Rectangle 2"/>
          <p:cNvSpPr/>
          <p:nvPr/>
        </p:nvSpPr>
        <p:spPr>
          <a:xfrm>
            <a:off x="548640" y="1280160"/>
            <a:ext cx="8046720" cy="3657600"/>
          </a:xfrm>
          <a:prstGeom prst="roundRect">
            <a:avLst/>
          </a:prstGeom>
          <a:solidFill>
            <a:srgbClr val="FFF8DC"/>
          </a:solidFill>
          <a:ln>
            <a:solidFill>
              <a:srgbClr val="8B451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a:solidFill>
                  <a:srgbClr val="502814"/>
                </a:solidFill>
              </a:defRPr>
            </a:pPr>
            <a:r>
              <a:t>Vaqueros spent their time guiding cattle across huge distances. At night, they sang songs and told stories around campfires. The word “rodeo” means “round up,” where cattle were gathered and sorted. Vaqueros wore sombreros and leather chaps for protection. They also branded cattle with hot irons to show ownership.</a:t>
            </a:r>
          </a:p>
        </p:txBody>
      </p:sp>
      <p:sp>
        <p:nvSpPr>
          <p:cNvPr id="4" name="TextBox 3"/>
          <p:cNvSpPr txBox="1"/>
          <p:nvPr/>
        </p:nvSpPr>
        <p:spPr>
          <a:xfrm>
            <a:off x="274320" y="6217920"/>
            <a:ext cx="2743200" cy="274320"/>
          </a:xfrm>
          <a:prstGeom prst="rect">
            <a:avLst/>
          </a:prstGeom>
          <a:noFill/>
        </p:spPr>
        <p:txBody>
          <a:bodyPr wrap="none">
            <a:spAutoFit/>
          </a:bodyPr>
          <a:lstStyle/>
          <a:p>
            <a:pPr>
              <a:defRPr sz="1000">
                <a:solidFill>
                  <a:srgbClr val="FFFFFF"/>
                </a:solidFill>
              </a:defRPr>
            </a:pPr>
            <a:r>
              <a:t>Vaquero Storybook Project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967A"/>
        </a:solidFill>
        <a:effectLst/>
      </p:bgPr>
    </p:bg>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457200" y="365760"/>
            <a:ext cx="8229600" cy="914400"/>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800" b="1">
                <a:solidFill>
                  <a:srgbClr val="FFFFFF"/>
                </a:solidFill>
              </a:defRPr>
            </a:pPr>
            <a:r>
              <a:rPr kumimoji="0" lang="en-US" sz="2800" b="1" i="0" u="none" strike="noStrike" kern="1200" cap="none" spc="0" normalizeH="0" baseline="0" noProof="0" dirty="0">
                <a:ln>
                  <a:noFill/>
                </a:ln>
                <a:solidFill>
                  <a:srgbClr val="FFFFFF"/>
                </a:solidFill>
                <a:effectLst/>
                <a:uLnTx/>
                <a:uFillTx/>
                <a:latin typeface="+mn-lt"/>
                <a:ea typeface="+mn-ea"/>
                <a:cs typeface="+mn-cs"/>
              </a:rPr>
              <a:t>Page 6 – Cowboys of the West</a:t>
            </a:r>
          </a:p>
        </p:txBody>
      </p:sp>
      <p:sp>
        <p:nvSpPr>
          <p:cNvPr id="3" name="Rounded Rectangle 2"/>
          <p:cNvSpPr/>
          <p:nvPr/>
        </p:nvSpPr>
        <p:spPr>
          <a:xfrm>
            <a:off x="548640" y="1280160"/>
            <a:ext cx="8046720" cy="3657600"/>
          </a:xfrm>
          <a:prstGeom prst="roundRect">
            <a:avLst/>
          </a:prstGeom>
          <a:solidFill>
            <a:srgbClr val="FFF8DC"/>
          </a:solidFill>
          <a:ln>
            <a:solidFill>
              <a:srgbClr val="8B451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a:solidFill>
                  <a:srgbClr val="502814"/>
                </a:solidFill>
              </a:defRPr>
            </a:pPr>
            <a:r>
              <a:t>In 1821, Mexico gained independence from Spain. Later, Texas joined the United States, and more American settlers arrived. English speakers changed the word “vaquero” into “buckaroo.” Cowboys learned many ranching skills from vaqueros, including cattle drives. After the Civil War, many different groups joined cowboy life in the American West.</a:t>
            </a:r>
          </a:p>
        </p:txBody>
      </p:sp>
      <p:sp>
        <p:nvSpPr>
          <p:cNvPr id="4" name="TextBox 3"/>
          <p:cNvSpPr txBox="1"/>
          <p:nvPr/>
        </p:nvSpPr>
        <p:spPr>
          <a:xfrm>
            <a:off x="274320" y="6217920"/>
            <a:ext cx="2743200" cy="274320"/>
          </a:xfrm>
          <a:prstGeom prst="rect">
            <a:avLst/>
          </a:prstGeom>
          <a:noFill/>
        </p:spPr>
        <p:txBody>
          <a:bodyPr wrap="none">
            <a:spAutoFit/>
          </a:bodyPr>
          <a:lstStyle/>
          <a:p>
            <a:pPr>
              <a:defRPr sz="1000">
                <a:solidFill>
                  <a:srgbClr val="FFFFFF"/>
                </a:solidFill>
              </a:defRPr>
            </a:pPr>
            <a:r>
              <a:t>Vaquero Storybook Project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8B4513"/>
        </a:solidFill>
        <a:effectLst/>
      </p:bgPr>
    </p:bg>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457200" y="365760"/>
            <a:ext cx="8229600" cy="914400"/>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800" b="1">
                <a:solidFill>
                  <a:srgbClr val="FFFFFF"/>
                </a:solidFill>
              </a:defRPr>
            </a:pPr>
            <a:r>
              <a:rPr kumimoji="0" lang="en-US" sz="2800" b="1" i="0" u="none" strike="noStrike" kern="1200" cap="none" spc="0" normalizeH="0" baseline="0" noProof="0" dirty="0">
                <a:ln>
                  <a:noFill/>
                </a:ln>
                <a:solidFill>
                  <a:srgbClr val="FFFFFF"/>
                </a:solidFill>
                <a:effectLst/>
                <a:uLnTx/>
                <a:uFillTx/>
                <a:latin typeface="+mn-lt"/>
                <a:ea typeface="+mn-ea"/>
                <a:cs typeface="+mn-cs"/>
              </a:rPr>
              <a:t>Conclusion</a:t>
            </a:r>
          </a:p>
        </p:txBody>
      </p:sp>
      <p:sp>
        <p:nvSpPr>
          <p:cNvPr id="3" name="Rounded Rectangle 2"/>
          <p:cNvSpPr/>
          <p:nvPr/>
        </p:nvSpPr>
        <p:spPr>
          <a:xfrm>
            <a:off x="548640" y="1280160"/>
            <a:ext cx="8046720" cy="3657600"/>
          </a:xfrm>
          <a:prstGeom prst="roundRect">
            <a:avLst/>
          </a:prstGeom>
          <a:solidFill>
            <a:srgbClr val="FFF8DC"/>
          </a:solidFill>
          <a:ln>
            <a:solidFill>
              <a:srgbClr val="8B451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a:solidFill>
                  <a:srgbClr val="502814"/>
                </a:solidFill>
              </a:defRPr>
            </a:pPr>
            <a:r>
              <a:t>From the arrival of Columbus to the rise of the cowboy, the history of the vaqueros shaped the Americas forever. Horses, cattle, ranches, and rodeos all became important parts of life because of the exchange between cultures.</a:t>
            </a:r>
          </a:p>
        </p:txBody>
      </p:sp>
      <p:sp>
        <p:nvSpPr>
          <p:cNvPr id="4" name="TextBox 3"/>
          <p:cNvSpPr txBox="1"/>
          <p:nvPr/>
        </p:nvSpPr>
        <p:spPr>
          <a:xfrm>
            <a:off x="274320" y="6217920"/>
            <a:ext cx="2743200" cy="274320"/>
          </a:xfrm>
          <a:prstGeom prst="rect">
            <a:avLst/>
          </a:prstGeom>
          <a:noFill/>
        </p:spPr>
        <p:txBody>
          <a:bodyPr wrap="none">
            <a:spAutoFit/>
          </a:bodyPr>
          <a:lstStyle/>
          <a:p>
            <a:pPr>
              <a:defRPr sz="1000">
                <a:solidFill>
                  <a:srgbClr val="FFFFFF"/>
                </a:solidFill>
              </a:defRPr>
            </a:pPr>
            <a:r>
              <a:t>Vaquero Storybook Project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8B4513"/>
        </a:solidFill>
        <a:effectLst/>
      </p:bgPr>
    </p:bg>
    <p:spTree>
      <p:nvGrpSpPr>
        <p:cNvPr id="1" name="">
          <a:extLst>
            <a:ext uri="{FF2B5EF4-FFF2-40B4-BE49-F238E27FC236}">
              <a16:creationId xmlns:a16="http://schemas.microsoft.com/office/drawing/2014/main" id="{09E5EC69-D25E-EB63-9583-43A76380CA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EF3D48-903B-8CE7-69E8-571A772E634A}"/>
              </a:ext>
            </a:extLst>
          </p:cNvPr>
          <p:cNvSpPr txBox="1">
            <a:spLocks noGrp="1"/>
          </p:cNvSpPr>
          <p:nvPr>
            <p:ph type="title" idx="4294967295"/>
          </p:nvPr>
        </p:nvSpPr>
        <p:spPr>
          <a:xfrm>
            <a:off x="457200" y="365760"/>
            <a:ext cx="1383712" cy="523220"/>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800" b="1">
                <a:solidFill>
                  <a:srgbClr val="FFFFFF"/>
                </a:solidFill>
              </a:defRPr>
            </a:pPr>
            <a:r>
              <a:rPr kumimoji="0" lang="en-US" sz="2800" b="1" i="0" u="none" strike="noStrike" kern="1200" cap="none" spc="0" normalizeH="0" baseline="0" noProof="0" dirty="0">
                <a:ln>
                  <a:noFill/>
                </a:ln>
                <a:solidFill>
                  <a:srgbClr val="FFFFFF"/>
                </a:solidFill>
                <a:effectLst/>
                <a:uLnTx/>
                <a:uFillTx/>
                <a:latin typeface="+mn-lt"/>
                <a:ea typeface="+mn-ea"/>
                <a:cs typeface="+mn-cs"/>
              </a:rPr>
              <a:t>The end</a:t>
            </a:r>
          </a:p>
        </p:txBody>
      </p:sp>
      <p:sp>
        <p:nvSpPr>
          <p:cNvPr id="3" name="Rounded Rectangle 2">
            <a:extLst>
              <a:ext uri="{FF2B5EF4-FFF2-40B4-BE49-F238E27FC236}">
                <a16:creationId xmlns:a16="http://schemas.microsoft.com/office/drawing/2014/main" id="{DFD04AB1-A10B-A901-3028-D97D95AA475E}"/>
              </a:ext>
            </a:extLst>
          </p:cNvPr>
          <p:cNvSpPr/>
          <p:nvPr/>
        </p:nvSpPr>
        <p:spPr>
          <a:xfrm>
            <a:off x="548640" y="1280160"/>
            <a:ext cx="8046720" cy="3657600"/>
          </a:xfrm>
          <a:prstGeom prst="roundRect">
            <a:avLst/>
          </a:prstGeom>
          <a:solidFill>
            <a:srgbClr val="FFF8DC"/>
          </a:solidFill>
          <a:ln>
            <a:solidFill>
              <a:srgbClr val="8B451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a:solidFill>
                  <a:srgbClr val="502814"/>
                </a:solidFill>
              </a:defRPr>
            </a:pPr>
            <a:r>
              <a:rPr lang="en-US" dirty="0"/>
              <a:t>that is it see yah bye </a:t>
            </a:r>
            <a:r>
              <a:rPr dirty="0"/>
              <a:t>.</a:t>
            </a:r>
            <a:br>
              <a:rPr lang="en-US" dirty="0"/>
            </a:br>
            <a:endParaRPr lang="en-US" dirty="0"/>
          </a:p>
          <a:p>
            <a:pPr algn="ctr">
              <a:defRPr sz="1800">
                <a:solidFill>
                  <a:srgbClr val="502814"/>
                </a:solidFill>
              </a:defRPr>
            </a:pPr>
            <a:endParaRPr lang="en-US" dirty="0"/>
          </a:p>
          <a:p>
            <a:pPr algn="ctr">
              <a:defRPr sz="1800">
                <a:solidFill>
                  <a:srgbClr val="502814"/>
                </a:solidFill>
              </a:defRPr>
            </a:pPr>
            <a:endParaRPr lang="en-US" dirty="0"/>
          </a:p>
          <a:p>
            <a:pPr algn="ctr">
              <a:defRPr sz="1800">
                <a:solidFill>
                  <a:srgbClr val="502814"/>
                </a:solidFill>
              </a:defRPr>
            </a:pPr>
            <a:r>
              <a:rPr lang="en-US" sz="1400" dirty="0"/>
              <a:t>Made by Youssof with  the help of HLM GPT</a:t>
            </a:r>
            <a:endParaRPr sz="1400" dirty="0"/>
          </a:p>
        </p:txBody>
      </p:sp>
      <p:sp>
        <p:nvSpPr>
          <p:cNvPr id="4" name="TextBox 3">
            <a:extLst>
              <a:ext uri="{FF2B5EF4-FFF2-40B4-BE49-F238E27FC236}">
                <a16:creationId xmlns:a16="http://schemas.microsoft.com/office/drawing/2014/main" id="{61870305-DAA7-62FF-0BC9-8CDBA58CF499}"/>
              </a:ext>
            </a:extLst>
          </p:cNvPr>
          <p:cNvSpPr txBox="1"/>
          <p:nvPr/>
        </p:nvSpPr>
        <p:spPr>
          <a:xfrm>
            <a:off x="274320" y="6217920"/>
            <a:ext cx="2743200" cy="274320"/>
          </a:xfrm>
          <a:prstGeom prst="rect">
            <a:avLst/>
          </a:prstGeom>
          <a:noFill/>
        </p:spPr>
        <p:txBody>
          <a:bodyPr wrap="none">
            <a:spAutoFit/>
          </a:bodyPr>
          <a:lstStyle/>
          <a:p>
            <a:pPr>
              <a:defRPr sz="1000">
                <a:solidFill>
                  <a:srgbClr val="FFFFFF"/>
                </a:solidFill>
              </a:defRPr>
            </a:pPr>
            <a:r>
              <a:t>Vaquero Storybook Project</a:t>
            </a:r>
          </a:p>
        </p:txBody>
      </p:sp>
    </p:spTree>
    <p:extLst>
      <p:ext uri="{BB962C8B-B14F-4D97-AF65-F5344CB8AC3E}">
        <p14:creationId xmlns:p14="http://schemas.microsoft.com/office/powerpoint/2010/main" val="14524263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42</TotalTime>
  <Words>509</Words>
  <Application>Microsoft Office PowerPoint</Application>
  <PresentationFormat>On-screen Show (4:3)</PresentationFormat>
  <Paragraphs>30</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The Story of the Vaqueros</vt:lpstr>
      <vt:lpstr>Page 1 – A New World</vt:lpstr>
      <vt:lpstr>Page 2 – Cortés and New Spain</vt:lpstr>
      <vt:lpstr>Page 3 – Ranches and Missions</vt:lpstr>
      <vt:lpstr>Page 4 – The Vaqueros</vt:lpstr>
      <vt:lpstr>Page 5 – Life on the Range</vt:lpstr>
      <vt:lpstr>Page 6 – Cowboys of the West</vt:lpstr>
      <vt:lpstr>Conclusion</vt:lpstr>
      <vt:lpstr>The end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 s</cp:lastModifiedBy>
  <cp:revision>2</cp:revision>
  <dcterms:created xsi:type="dcterms:W3CDTF">2013-01-27T09:14:16Z</dcterms:created>
  <dcterms:modified xsi:type="dcterms:W3CDTF">2026-05-13T05:54:10Z</dcterms:modified>
  <cp:category/>
</cp:coreProperties>
</file>